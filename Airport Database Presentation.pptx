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4"/>
    <p:sldMasterId id="214748369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Urbanist Medium"/>
      <p:regular r:id="rId25"/>
      <p:bold r:id="rId26"/>
      <p:italic r:id="rId27"/>
      <p:boldItalic r:id="rId28"/>
    </p:embeddedFont>
    <p:embeddedFont>
      <p:font typeface="Urbanist SemiBold"/>
      <p:regular r:id="rId29"/>
      <p:bold r:id="rId30"/>
      <p:italic r:id="rId31"/>
      <p:boldItalic r:id="rId32"/>
    </p:embeddedFont>
    <p:embeddedFont>
      <p:font typeface="Urbanist"/>
      <p:regular r:id="rId33"/>
      <p:bold r:id="rId34"/>
      <p:italic r:id="rId35"/>
      <p:boldItalic r:id="rId36"/>
    </p:embeddedFont>
    <p:embeddedFont>
      <p:font typeface="Metal Mania"/>
      <p:regular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UrbanistMedium-bold.fntdata"/><Relationship Id="rId25" Type="http://schemas.openxmlformats.org/officeDocument/2006/relationships/font" Target="fonts/UrbanistMedium-regular.fntdata"/><Relationship Id="rId28" Type="http://schemas.openxmlformats.org/officeDocument/2006/relationships/font" Target="fonts/UrbanistMedium-boldItalic.fntdata"/><Relationship Id="rId27" Type="http://schemas.openxmlformats.org/officeDocument/2006/relationships/font" Target="fonts/UrbanistMedium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SemiBold-italic.fntdata"/><Relationship Id="rId30" Type="http://schemas.openxmlformats.org/officeDocument/2006/relationships/font" Target="fonts/UrbanistSemiBold-bold.fntdata"/><Relationship Id="rId11" Type="http://schemas.openxmlformats.org/officeDocument/2006/relationships/slide" Target="slides/slide5.xml"/><Relationship Id="rId33" Type="http://schemas.openxmlformats.org/officeDocument/2006/relationships/font" Target="fonts/Urbanist-regular.fntdata"/><Relationship Id="rId10" Type="http://schemas.openxmlformats.org/officeDocument/2006/relationships/slide" Target="slides/slide4.xml"/><Relationship Id="rId32" Type="http://schemas.openxmlformats.org/officeDocument/2006/relationships/font" Target="fonts/UrbanistSemiBold-boldItalic.fntdata"/><Relationship Id="rId13" Type="http://schemas.openxmlformats.org/officeDocument/2006/relationships/slide" Target="slides/slide7.xml"/><Relationship Id="rId35" Type="http://schemas.openxmlformats.org/officeDocument/2006/relationships/font" Target="fonts/Urbanist-italic.fntdata"/><Relationship Id="rId12" Type="http://schemas.openxmlformats.org/officeDocument/2006/relationships/slide" Target="slides/slide6.xml"/><Relationship Id="rId34" Type="http://schemas.openxmlformats.org/officeDocument/2006/relationships/font" Target="fonts/Urbanist-bold.fntdata"/><Relationship Id="rId15" Type="http://schemas.openxmlformats.org/officeDocument/2006/relationships/slide" Target="slides/slide9.xml"/><Relationship Id="rId37" Type="http://schemas.openxmlformats.org/officeDocument/2006/relationships/font" Target="fonts/MetalMania-regular.fntdata"/><Relationship Id="rId14" Type="http://schemas.openxmlformats.org/officeDocument/2006/relationships/slide" Target="slides/slide8.xml"/><Relationship Id="rId36" Type="http://schemas.openxmlformats.org/officeDocument/2006/relationships/font" Target="fonts/Urbanist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d24426bd9e_4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d24426bd9e_4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Airport Flight Database - luke	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d24426bd9e_4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d24426bd9e_4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luke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d24426bd9e_4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d24426bd9e_4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benton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d24426bd9e_4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d24426bd9e_4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Kill tarantino	benton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d89022158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d89022158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Kill tarantino	benton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d24725c6cd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d24725c6cd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luke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d2581853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d2581853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PJ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NULL == col cannot accept null value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MYSQL == table relation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== API calling &amp; Integration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Flight_details == how we call the API’s data into flight_details re</a:t>
            </a:r>
            <a:r>
              <a:rPr lang="en"/>
              <a:t>lation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d24426bd9e_4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d24426bd9e_4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TLDR: flight information display system (F.I.D.S.) is pretty cool &amp; efficient for helping people </a:t>
            </a:r>
            <a:r>
              <a:rPr lang="en"/>
              <a:t>get to where they need to go.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PJ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d808573a0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d808573a0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TLDR: flight information display system (F.I.D.S.) is pretty cool &amp; efficient for helping people get to where they need to go.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Luke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d8710fdf55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d8710fdf55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TLDR: flight information display system (F.I.D.S.) is pretty cool &amp; efficient for helping people get to where they need to go.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Luke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d8710fdf55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d8710fdf55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TLDR: flight information display system (F.I.D.S.) is pretty cool &amp; efficient for helping people get to where they need to go.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Benton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d808573a0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d808573a0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TLDR: flight information display system (F.I.D.S.) is pretty cool &amp; efficient for helping people get to where they need to go.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d8710fdf55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d8710fdf55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d24426bd9e_4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d24426bd9e_4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8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END</a:t>
            </a:r>
            <a:endParaRPr sz="48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1" name="Google Shape;61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64" name="Google Shape;64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5" name="Google Shape;75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77" name="Google Shape;77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4" name="Google Shape;84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6" name="Google Shape;86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6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7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7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" name="Google Shape;109;p18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8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8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13" name="Google Shape;113;p18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6" name="Google Shape;116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" name="Google Shape;118;p18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19" name="Google Shape;119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3" name="Google Shape;123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4" name="Google Shape;124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5" name="Google Shape;125;p19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26" name="Google Shape;126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9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19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19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8" name="Google Shape;138;p19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43" name="Google Shape;143;p20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4" name="Google Shape;144;p20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5" name="Google Shape;145;p20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6" name="Google Shape;146;p20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7" name="Google Shape;147;p20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8" name="Google Shape;148;p20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9" name="Google Shape;149;p20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0" name="Google Shape;150;p20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1" name="Google Shape;151;p20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2" name="Google Shape;152;p20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3" name="Google Shape;153;p20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4" name="Google Shape;154;p20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5" name="Google Shape;155;p20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6" name="Google Shape;156;p20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7" name="Google Shape;157;p20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8" name="Google Shape;158;p20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9" name="Google Shape;159;p20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0" name="Google Shape;160;p20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1" name="Google Shape;161;p20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62" name="Google Shape;162;p20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3" name="Google Shape;163;p20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64" name="Google Shape;164;p2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1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70" name="Google Shape;170;p21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2" name="Google Shape;172;p21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74" name="Google Shape;174;p2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22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0" name="Google Shape;180;p22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81" name="Google Shape;181;p22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82" name="Google Shape;182;p22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3" name="Google Shape;183;p22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84" name="Google Shape;184;p2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2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86" name="Google Shape;186;p22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87" name="Google Shape;187;p22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8" name="Google Shape;188;p22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22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0" name="Google Shape;190;p22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1" name="Google Shape;191;p22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22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22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4" name="Google Shape;194;p22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5" name="Google Shape;195;p22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6" name="Google Shape;196;p22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8" name="Google Shape;198;p22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9" name="Google Shape;199;p22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0" name="Google Shape;200;p22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202" name="Google Shape;202;p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206" name="Google Shape;206;p23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7" name="Google Shape;207;p23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8" name="Google Shape;208;p2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9" name="Google Shape;209;p2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0" name="Google Shape;210;p2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1" name="Google Shape;211;p23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12" name="Google Shape;212;p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3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3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19" name="Google Shape;219;p24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20" name="Google Shape;220;p24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4" name="Google Shape;224;p24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225" name="Google Shape;225;p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25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25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2" name="Google Shape;232;p25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25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25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" name="Google Shape;236;p25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25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8" name="Google Shape;238;p25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9" name="Google Shape;239;p25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0" name="Google Shape;240;p25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1" name="Google Shape;241;p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2" name="Google Shape;242;p25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243" name="Google Shape;243;p25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25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5" name="Google Shape;245;p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49" name="Google Shape;249;p26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2" name="Google Shape;252;p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26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4" name="Google Shape;264;p26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5" name="Google Shape;265;p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2" name="Google Shape;272;p2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3" name="Google Shape;273;p27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4" name="Google Shape;274;p27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5" name="Google Shape;275;p27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9" name="Google Shape;279;p27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0" name="Google Shape;280;p27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1" name="Google Shape;281;p27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27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3" name="Google Shape;283;p27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4" name="Google Shape;284;p27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27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27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7" name="Google Shape;287;p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1" name="Google Shape;291;p28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" name="Google Shape;292;p2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4" name="Google Shape;294;p2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5" name="Google Shape;295;p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28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97" name="Google Shape;297;p28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8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1" name="Google Shape;301;p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5" name="Google Shape;305;p2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6" name="Google Shape;306;p2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07" name="Google Shape;307;p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29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2" name="Google Shape;312;p29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9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4" name="Google Shape;314;p29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" name="Google Shape;315;p29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6" name="Google Shape;316;p29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317" name="Google Shape;317;p29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29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29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0" name="Google Shape;320;p29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21" name="Google Shape;321;p29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29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29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4" name="Google Shape;324;p29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5" name="Google Shape;325;p29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6" name="Google Shape;326;p29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29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8" name="Google Shape;328;p29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9" name="Google Shape;329;p29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29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1" name="Google Shape;331;p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35" name="Google Shape;335;p30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6" name="Google Shape;336;p30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37" name="Google Shape;337;p30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8" name="Google Shape;338;p30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9" name="Google Shape;339;p30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40" name="Google Shape;340;p30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1" name="Google Shape;341;p30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2" name="Google Shape;342;p30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43" name="Google Shape;343;p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30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5" name="Google Shape;345;p30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6" name="Google Shape;346;p30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7" name="Google Shape;347;p30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8" name="Google Shape;348;p30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9" name="Google Shape;349;p30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30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1" name="Google Shape;351;p30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2" name="Google Shape;352;p30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3" name="Google Shape;353;p30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54" name="Google Shape;354;p30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5" name="Google Shape;355;p30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6" name="Google Shape;356;p30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7" name="Google Shape;357;p30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8" name="Google Shape;358;p30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59" name="Google Shape;359;p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3" name="Google Shape;363;p3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4" name="Google Shape;364;p3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65" name="Google Shape;365;p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8" name="Google Shape;368;p31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31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0" name="Google Shape;370;p31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1" name="Google Shape;371;p31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2" name="Google Shape;372;p31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73" name="Google Shape;373;p31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4" name="Google Shape;374;p31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5" name="Google Shape;375;p31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6" name="Google Shape;376;p31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7" name="Google Shape;377;p31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0" name="Google Shape;380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5" name="Google Shape;38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9" name="Google Shape;389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4" name="Google Shape;394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9" name="Google Shape;399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0" name="Google Shape;400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5" name="Google Shape;405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9" name="Google Shape;409;p4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4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4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4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8" name="Google Shape;418;p4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1" name="Google Shape;421;p4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4" name="Google Shape;424;p4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7" name="Google Shape;427;p4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8" name="Google Shape;428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9" name="Google Shape;429;p4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4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4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4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5" name="Google Shape;435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6" name="Google Shape;436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8" name="Google Shape;438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0" name="Google Shape;440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5" name="Google Shape;445;p4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8" name="Google Shape;448;p4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4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1" name="Google Shape;45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2" name="Google Shape;452;p4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3" name="Google Shape;453;p4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6" name="Google Shape;456;p5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5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1" name="Google Shape;46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2" name="Google Shape;462;p5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3" name="Google Shape;463;p5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4" name="Google Shape;464;p5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5" name="Google Shape;475;p5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2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 txBox="1"/>
          <p:nvPr>
            <p:ph type="title"/>
          </p:nvPr>
        </p:nvSpPr>
        <p:spPr>
          <a:xfrm>
            <a:off x="228600" y="228600"/>
            <a:ext cx="6658800" cy="191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Airport Flight Database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Final </a:t>
            </a:r>
            <a:r>
              <a:rPr lang="en">
                <a:solidFill>
                  <a:schemeClr val="lt1"/>
                </a:solidFill>
              </a:rPr>
              <a:t>Progress Update</a:t>
            </a:r>
            <a:r>
              <a:rPr lang="en">
                <a:solidFill>
                  <a:schemeClr val="lt1"/>
                </a:solidFill>
              </a:rPr>
              <a:t>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light Information Display System (F.I.D.S.).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83" name="Google Shape;483;p53"/>
          <p:cNvSpPr txBox="1"/>
          <p:nvPr>
            <p:ph idx="4294967295" type="title"/>
          </p:nvPr>
        </p:nvSpPr>
        <p:spPr>
          <a:xfrm>
            <a:off x="227250" y="2218200"/>
            <a:ext cx="4392900" cy="20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Luke</a:t>
            </a:r>
            <a:r>
              <a:rPr lang="en"/>
              <a:t> - Front end dev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Benton</a:t>
            </a:r>
            <a:r>
              <a:rPr lang="en"/>
              <a:t> - Back end dev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P.J.</a:t>
            </a:r>
            <a:r>
              <a:rPr lang="en"/>
              <a:t> - Both + </a:t>
            </a:r>
            <a:r>
              <a:rPr lang="en" sz="2300"/>
              <a:t>Documentation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4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Description and motivation</a:t>
            </a:r>
            <a:endParaRPr sz="1400"/>
          </a:p>
        </p:txBody>
      </p:sp>
      <p:sp>
        <p:nvSpPr>
          <p:cNvPr id="489" name="Google Shape;489;p54"/>
          <p:cNvSpPr txBox="1"/>
          <p:nvPr>
            <p:ph idx="1" type="body"/>
          </p:nvPr>
        </p:nvSpPr>
        <p:spPr>
          <a:xfrm>
            <a:off x="4669050" y="3001025"/>
            <a:ext cx="4290000" cy="15117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We wanted to make something that would run on a airport arrivals and departures </a:t>
            </a:r>
            <a:r>
              <a:rPr lang="en" sz="2100"/>
              <a:t>kiosk</a:t>
            </a:r>
            <a:endParaRPr sz="2100"/>
          </a:p>
        </p:txBody>
      </p:sp>
      <p:sp>
        <p:nvSpPr>
          <p:cNvPr id="490" name="Google Shape;490;p54"/>
          <p:cNvSpPr txBox="1"/>
          <p:nvPr>
            <p:ph idx="3" type="title"/>
          </p:nvPr>
        </p:nvSpPr>
        <p:spPr>
          <a:xfrm>
            <a:off x="4591800" y="738425"/>
            <a:ext cx="4235400" cy="243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made a real-time flight tracker for airport terminal kiosks and online passengers</a:t>
            </a:r>
            <a:endParaRPr/>
          </a:p>
        </p:txBody>
      </p:sp>
      <p:pic>
        <p:nvPicPr>
          <p:cNvPr id="491" name="Google Shape;49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290000" cy="429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54"/>
          <p:cNvSpPr txBox="1"/>
          <p:nvPr/>
        </p:nvSpPr>
        <p:spPr>
          <a:xfrm>
            <a:off x="312050" y="4683725"/>
            <a:ext cx="68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Luke</a:t>
            </a:r>
            <a:r>
              <a:rPr lang="en" sz="1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5"/>
          <p:cNvSpPr txBox="1"/>
          <p:nvPr>
            <p:ph type="title"/>
          </p:nvPr>
        </p:nvSpPr>
        <p:spPr>
          <a:xfrm>
            <a:off x="2265950" y="2286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ER Diagram</a:t>
            </a:r>
            <a:endParaRPr sz="2600"/>
          </a:p>
        </p:txBody>
      </p:sp>
      <p:pic>
        <p:nvPicPr>
          <p:cNvPr id="498" name="Google Shape;498;p55" title="ER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6150" y="732425"/>
            <a:ext cx="5237778" cy="395130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55"/>
          <p:cNvSpPr txBox="1"/>
          <p:nvPr/>
        </p:nvSpPr>
        <p:spPr>
          <a:xfrm>
            <a:off x="312050" y="4683725"/>
            <a:ext cx="68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Benton</a:t>
            </a: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6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Relations and Schema</a:t>
            </a:r>
            <a:endParaRPr sz="1400"/>
          </a:p>
        </p:txBody>
      </p:sp>
      <p:sp>
        <p:nvSpPr>
          <p:cNvPr id="505" name="Google Shape;505;p56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orlandoFlights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Flight Number (Primary)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Airline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From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To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Departure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Arrival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Duration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Gate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Terminal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Aircraft (ICAO)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Status</a:t>
            </a:r>
            <a:endParaRPr sz="1900"/>
          </a:p>
        </p:txBody>
      </p:sp>
      <p:sp>
        <p:nvSpPr>
          <p:cNvPr id="506" name="Google Shape;506;p56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\</a:t>
            </a:r>
            <a:endParaRPr/>
          </a:p>
        </p:txBody>
      </p:sp>
      <p:pic>
        <p:nvPicPr>
          <p:cNvPr id="507" name="Google Shape;50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638" y="357888"/>
            <a:ext cx="4062325" cy="419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56"/>
          <p:cNvPicPr preferRelativeResize="0"/>
          <p:nvPr/>
        </p:nvPicPr>
        <p:blipFill rotWithShape="1">
          <a:blip r:embed="rId4">
            <a:alphaModFix/>
          </a:blip>
          <a:srcRect b="0" l="27241" r="26790" t="0"/>
          <a:stretch/>
        </p:blipFill>
        <p:spPr>
          <a:xfrm>
            <a:off x="743774" y="357900"/>
            <a:ext cx="2935127" cy="4197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56"/>
          <p:cNvSpPr txBox="1"/>
          <p:nvPr/>
        </p:nvSpPr>
        <p:spPr>
          <a:xfrm>
            <a:off x="312050" y="4683725"/>
            <a:ext cx="68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Benton</a:t>
            </a:r>
            <a:endParaRPr sz="1000" u="sng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7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Relations and Schema (cont.)</a:t>
            </a:r>
            <a:endParaRPr sz="1400"/>
          </a:p>
        </p:txBody>
      </p:sp>
      <p:sp>
        <p:nvSpPr>
          <p:cNvPr id="515" name="Google Shape;515;p57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flightDetails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Flight Number (Primary)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Airline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Status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Departure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Arrival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Gate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Terminal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Aircraft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Prices</a:t>
            </a:r>
            <a:endParaRPr sz="1900"/>
          </a:p>
        </p:txBody>
      </p:sp>
      <p:sp>
        <p:nvSpPr>
          <p:cNvPr id="516" name="Google Shape;516;p57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\</a:t>
            </a:r>
            <a:endParaRPr/>
          </a:p>
        </p:txBody>
      </p:sp>
      <p:pic>
        <p:nvPicPr>
          <p:cNvPr id="517" name="Google Shape;51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638" y="357888"/>
            <a:ext cx="4062325" cy="419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57"/>
          <p:cNvPicPr preferRelativeResize="0"/>
          <p:nvPr/>
        </p:nvPicPr>
        <p:blipFill rotWithShape="1">
          <a:blip r:embed="rId4">
            <a:alphaModFix/>
          </a:blip>
          <a:srcRect b="0" l="27241" r="26790" t="0"/>
          <a:stretch/>
        </p:blipFill>
        <p:spPr>
          <a:xfrm>
            <a:off x="743774" y="357900"/>
            <a:ext cx="2935127" cy="4197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57"/>
          <p:cNvSpPr txBox="1"/>
          <p:nvPr/>
        </p:nvSpPr>
        <p:spPr>
          <a:xfrm>
            <a:off x="312050" y="4683725"/>
            <a:ext cx="68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Benton</a:t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8"/>
          <p:cNvSpPr txBox="1"/>
          <p:nvPr>
            <p:ph type="title"/>
          </p:nvPr>
        </p:nvSpPr>
        <p:spPr>
          <a:xfrm>
            <a:off x="4591800" y="194625"/>
            <a:ext cx="3861900" cy="30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</a:t>
            </a:r>
            <a:endParaRPr/>
          </a:p>
        </p:txBody>
      </p:sp>
      <p:sp>
        <p:nvSpPr>
          <p:cNvPr id="525" name="Google Shape;525;p58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Week 1: Database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Week 2: Front End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Week 3: Debugging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Week 5: Decide to rework database, brainstorming how to do that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Week 6: Connecting live database to our site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Week 7: Front end for new parts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Week 8: Work on presentation</a:t>
            </a:r>
            <a:endParaRPr sz="2300"/>
          </a:p>
        </p:txBody>
      </p:sp>
      <p:pic>
        <p:nvPicPr>
          <p:cNvPr id="526" name="Google Shape;526;p58"/>
          <p:cNvPicPr preferRelativeResize="0"/>
          <p:nvPr/>
        </p:nvPicPr>
        <p:blipFill rotWithShape="1">
          <a:blip r:embed="rId3">
            <a:alphaModFix/>
          </a:blip>
          <a:srcRect b="0" l="27241" r="26790" t="0"/>
          <a:stretch/>
        </p:blipFill>
        <p:spPr>
          <a:xfrm>
            <a:off x="743774" y="357900"/>
            <a:ext cx="2935127" cy="4197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58"/>
          <p:cNvSpPr txBox="1"/>
          <p:nvPr/>
        </p:nvSpPr>
        <p:spPr>
          <a:xfrm>
            <a:off x="312050" y="4683725"/>
            <a:ext cx="68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Luke</a:t>
            </a:r>
            <a:r>
              <a:rPr lang="en" sz="1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9"/>
          <p:cNvSpPr txBox="1"/>
          <p:nvPr>
            <p:ph type="title"/>
          </p:nvPr>
        </p:nvSpPr>
        <p:spPr>
          <a:xfrm>
            <a:off x="4572000" y="2286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Code Snippets</a:t>
            </a:r>
            <a:endParaRPr sz="2200"/>
          </a:p>
        </p:txBody>
      </p:sp>
      <p:pic>
        <p:nvPicPr>
          <p:cNvPr id="533" name="Google Shape;533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725" y="228600"/>
            <a:ext cx="4314153" cy="210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" y="2673950"/>
            <a:ext cx="2715030" cy="234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83123" y="629200"/>
            <a:ext cx="3351312" cy="29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44263" y="3714899"/>
            <a:ext cx="5290169" cy="13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59"/>
          <p:cNvSpPr txBox="1"/>
          <p:nvPr/>
        </p:nvSpPr>
        <p:spPr>
          <a:xfrm>
            <a:off x="3361575" y="3400300"/>
            <a:ext cx="15036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flight_details.php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38" name="Google Shape;538;p59"/>
          <p:cNvSpPr txBox="1"/>
          <p:nvPr/>
        </p:nvSpPr>
        <p:spPr>
          <a:xfrm>
            <a:off x="7039100" y="2725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sync_flights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.php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39" name="Google Shape;539;p59"/>
          <p:cNvSpPr txBox="1"/>
          <p:nvPr/>
        </p:nvSpPr>
        <p:spPr>
          <a:xfrm>
            <a:off x="172725" y="23871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light_data.sql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0" name="Google Shape;540;p59"/>
          <p:cNvSpPr txBox="1"/>
          <p:nvPr/>
        </p:nvSpPr>
        <p:spPr>
          <a:xfrm>
            <a:off x="4373700" y="2402400"/>
            <a:ext cx="302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PJ</a:t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0"/>
          <p:cNvSpPr txBox="1"/>
          <p:nvPr>
            <p:ph idx="1" type="body"/>
          </p:nvPr>
        </p:nvSpPr>
        <p:spPr>
          <a:xfrm>
            <a:off x="4476225" y="632500"/>
            <a:ext cx="4432800" cy="40437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https://github.com/LBowen26/CMS375-Spring2026</a:t>
            </a:r>
            <a:endParaRPr/>
          </a:p>
        </p:txBody>
      </p:sp>
      <p:pic>
        <p:nvPicPr>
          <p:cNvPr id="546" name="Google Shape;546;p60"/>
          <p:cNvPicPr preferRelativeResize="0"/>
          <p:nvPr/>
        </p:nvPicPr>
        <p:blipFill rotWithShape="1">
          <a:blip r:embed="rId3">
            <a:alphaModFix/>
          </a:blip>
          <a:srcRect b="0" l="0" r="13570" t="0"/>
          <a:stretch/>
        </p:blipFill>
        <p:spPr>
          <a:xfrm>
            <a:off x="228600" y="474688"/>
            <a:ext cx="3508025" cy="4194125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60"/>
          <p:cNvSpPr txBox="1"/>
          <p:nvPr/>
        </p:nvSpPr>
        <p:spPr>
          <a:xfrm>
            <a:off x="4440600" y="228600"/>
            <a:ext cx="277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etal Mania"/>
                <a:ea typeface="Metal Mania"/>
                <a:cs typeface="Metal Mania"/>
                <a:sym typeface="Metal Mania"/>
              </a:rPr>
              <a:t>DEMO</a:t>
            </a:r>
            <a:endParaRPr>
              <a:solidFill>
                <a:schemeClr val="lt1"/>
              </a:solidFill>
              <a:latin typeface="Metal Mania"/>
              <a:ea typeface="Metal Mania"/>
              <a:cs typeface="Metal Mania"/>
              <a:sym typeface="Metal Mania"/>
            </a:endParaRPr>
          </a:p>
        </p:txBody>
      </p:sp>
      <p:pic>
        <p:nvPicPr>
          <p:cNvPr id="548" name="Google Shape;548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0941" y="0"/>
            <a:ext cx="583059" cy="7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440599" y="3337805"/>
            <a:ext cx="1729576" cy="180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14062" y="3337800"/>
            <a:ext cx="2109463" cy="180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60"/>
          <p:cNvPicPr preferRelativeResize="0"/>
          <p:nvPr/>
        </p:nvPicPr>
        <p:blipFill rotWithShape="1">
          <a:blip r:embed="rId7">
            <a:alphaModFix/>
          </a:blip>
          <a:srcRect b="16026" l="15427" r="11318" t="17502"/>
          <a:stretch/>
        </p:blipFill>
        <p:spPr>
          <a:xfrm>
            <a:off x="4689625" y="1284150"/>
            <a:ext cx="1939901" cy="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60"/>
          <p:cNvSpPr txBox="1"/>
          <p:nvPr/>
        </p:nvSpPr>
        <p:spPr>
          <a:xfrm>
            <a:off x="6629525" y="1457100"/>
            <a:ext cx="13215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== Doodoo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3" name="Google Shape;553;p60"/>
          <p:cNvSpPr txBox="1"/>
          <p:nvPr/>
        </p:nvSpPr>
        <p:spPr>
          <a:xfrm>
            <a:off x="4689625" y="892500"/>
            <a:ext cx="1493700" cy="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Apologies in advance if PJ goes on a rant about Spirit Airlines</a:t>
            </a:r>
            <a:endParaRPr sz="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4" name="Google Shape;554;p60"/>
          <p:cNvSpPr txBox="1"/>
          <p:nvPr/>
        </p:nvSpPr>
        <p:spPr>
          <a:xfrm>
            <a:off x="312050" y="4683725"/>
            <a:ext cx="68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PJ</a:t>
            </a:r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Google Shape;559;p61"/>
          <p:cNvPicPr preferRelativeResize="0"/>
          <p:nvPr/>
        </p:nvPicPr>
        <p:blipFill rotWithShape="1">
          <a:blip r:embed="rId3">
            <a:alphaModFix/>
          </a:blip>
          <a:srcRect b="0" l="0" r="13570" t="0"/>
          <a:stretch/>
        </p:blipFill>
        <p:spPr>
          <a:xfrm>
            <a:off x="228600" y="474688"/>
            <a:ext cx="3508025" cy="4194125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61"/>
          <p:cNvSpPr txBox="1"/>
          <p:nvPr/>
        </p:nvSpPr>
        <p:spPr>
          <a:xfrm>
            <a:off x="4440600" y="228600"/>
            <a:ext cx="4420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Challenges and solutions</a:t>
            </a:r>
            <a:endParaRPr>
              <a:solidFill>
                <a:schemeClr val="lt1"/>
              </a:solidFill>
              <a:latin typeface="Metal Mania"/>
              <a:ea typeface="Metal Mania"/>
              <a:cs typeface="Metal Mania"/>
              <a:sym typeface="Metal Mania"/>
            </a:endParaRPr>
          </a:p>
        </p:txBody>
      </p:sp>
      <p:sp>
        <p:nvSpPr>
          <p:cNvPr id="561" name="Google Shape;561;p61"/>
          <p:cNvSpPr txBox="1"/>
          <p:nvPr/>
        </p:nvSpPr>
        <p:spPr>
          <a:xfrm>
            <a:off x="4582925" y="1003125"/>
            <a:ext cx="4041900" cy="36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Urbanist"/>
              <a:buChar char="●"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Communication and scheduling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Urbanist"/>
              <a:buChar char="○"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Solved by giving clear tasks for each person that can be done 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asynchronously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Urbanist"/>
              <a:buChar char="●"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Getting a live API dataset that updates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Urbanist"/>
              <a:buChar char="○"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Purchased a subscription to aviation stack to get our flight data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Urbanist"/>
              <a:buChar char="●"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Changing our project to accept the new dataset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Urbanist"/>
              <a:buChar char="○"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Sacrifices to 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Baal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2" name="Google Shape;562;p61"/>
          <p:cNvSpPr txBox="1"/>
          <p:nvPr/>
        </p:nvSpPr>
        <p:spPr>
          <a:xfrm>
            <a:off x="312050" y="4683725"/>
            <a:ext cx="68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Luke</a:t>
            </a:r>
            <a:r>
              <a:rPr lang="en" sz="1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p62"/>
          <p:cNvPicPr preferRelativeResize="0"/>
          <p:nvPr/>
        </p:nvPicPr>
        <p:blipFill rotWithShape="1">
          <a:blip r:embed="rId3">
            <a:alphaModFix/>
          </a:blip>
          <a:srcRect b="0" l="0" r="13570" t="0"/>
          <a:stretch/>
        </p:blipFill>
        <p:spPr>
          <a:xfrm>
            <a:off x="228600" y="474688"/>
            <a:ext cx="3508025" cy="4194125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62"/>
          <p:cNvSpPr txBox="1"/>
          <p:nvPr/>
        </p:nvSpPr>
        <p:spPr>
          <a:xfrm>
            <a:off x="4440600" y="228600"/>
            <a:ext cx="4420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Challenges and solutions</a:t>
            </a:r>
            <a:endParaRPr>
              <a:solidFill>
                <a:schemeClr val="lt1"/>
              </a:solidFill>
              <a:latin typeface="Metal Mania"/>
              <a:ea typeface="Metal Mania"/>
              <a:cs typeface="Metal Mania"/>
              <a:sym typeface="Metal Mania"/>
            </a:endParaRPr>
          </a:p>
        </p:txBody>
      </p:sp>
      <p:sp>
        <p:nvSpPr>
          <p:cNvPr id="569" name="Google Shape;569;p62"/>
          <p:cNvSpPr txBox="1"/>
          <p:nvPr/>
        </p:nvSpPr>
        <p:spPr>
          <a:xfrm>
            <a:off x="4582925" y="1003125"/>
            <a:ext cx="4041900" cy="36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Urbanist"/>
              <a:buChar char="●"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The feds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Urbanist"/>
              <a:buChar char="○"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Solution: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Urbanist"/>
              <a:buChar char="○"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24-Hour Delay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Urbanist"/>
              <a:buChar char="●"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Aviationstack limited to 3 independent calls at once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Urbanist"/>
              <a:buChar char="○"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Switch to OpenSky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70" name="Google Shape;570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0650" y="597450"/>
            <a:ext cx="866801" cy="866826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62"/>
          <p:cNvSpPr txBox="1"/>
          <p:nvPr/>
        </p:nvSpPr>
        <p:spPr>
          <a:xfrm>
            <a:off x="312050" y="4683725"/>
            <a:ext cx="68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Luke</a:t>
            </a:r>
            <a:r>
              <a:rPr lang="en" sz="1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endParaRPr sz="1000"/>
          </a:p>
        </p:txBody>
      </p:sp>
      <p:pic>
        <p:nvPicPr>
          <p:cNvPr id="572" name="Google Shape;572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16988" y="1644767"/>
            <a:ext cx="1724125" cy="114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7" name="Google Shape;577;p63"/>
          <p:cNvPicPr preferRelativeResize="0"/>
          <p:nvPr/>
        </p:nvPicPr>
        <p:blipFill rotWithShape="1">
          <a:blip r:embed="rId3">
            <a:alphaModFix/>
          </a:blip>
          <a:srcRect b="0" l="0" r="13570" t="0"/>
          <a:stretch/>
        </p:blipFill>
        <p:spPr>
          <a:xfrm>
            <a:off x="228600" y="474688"/>
            <a:ext cx="3508025" cy="4194125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63"/>
          <p:cNvSpPr txBox="1"/>
          <p:nvPr/>
        </p:nvSpPr>
        <p:spPr>
          <a:xfrm>
            <a:off x="4440600" y="228600"/>
            <a:ext cx="3677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Future Improvements</a:t>
            </a:r>
            <a:endParaRPr>
              <a:solidFill>
                <a:schemeClr val="lt1"/>
              </a:solidFill>
              <a:latin typeface="Metal Mania"/>
              <a:ea typeface="Metal Mania"/>
              <a:cs typeface="Metal Mania"/>
              <a:sym typeface="Metal Mania"/>
            </a:endParaRPr>
          </a:p>
        </p:txBody>
      </p:sp>
      <p:sp>
        <p:nvSpPr>
          <p:cNvPr id="579" name="Google Shape;579;p63"/>
          <p:cNvSpPr txBox="1"/>
          <p:nvPr/>
        </p:nvSpPr>
        <p:spPr>
          <a:xfrm>
            <a:off x="4582925" y="1003125"/>
            <a:ext cx="4041900" cy="3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Urbanist"/>
              <a:buChar char="●"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Make a custom api that does not require an external subscription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Urbanist"/>
              <a:buChar char="●"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Add no fly list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Urbanist"/>
              <a:buChar char="●"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Add interactive map that shows flight progress in real time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Urbanist"/>
              <a:buChar char="●"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Build a demo kiosk for presentation purposes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Urbanist"/>
              <a:buChar char="●"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Add a way for pilots to log in and say they are running late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Urbanist"/>
              <a:buChar char="●"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Add a way to get assistance from the airline or an AI assistant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0" name="Google Shape;580;p63"/>
          <p:cNvSpPr txBox="1"/>
          <p:nvPr/>
        </p:nvSpPr>
        <p:spPr>
          <a:xfrm>
            <a:off x="312050" y="4683725"/>
            <a:ext cx="68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Benton</a:t>
            </a:r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Google Shape;585;p64"/>
          <p:cNvPicPr preferRelativeResize="0"/>
          <p:nvPr/>
        </p:nvPicPr>
        <p:blipFill rotWithShape="1">
          <a:blip r:embed="rId3">
            <a:alphaModFix/>
          </a:blip>
          <a:srcRect b="0" l="0" r="13570" t="0"/>
          <a:stretch/>
        </p:blipFill>
        <p:spPr>
          <a:xfrm>
            <a:off x="228600" y="474688"/>
            <a:ext cx="3508025" cy="4194125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64"/>
          <p:cNvSpPr txBox="1"/>
          <p:nvPr/>
        </p:nvSpPr>
        <p:spPr>
          <a:xfrm>
            <a:off x="4440600" y="228600"/>
            <a:ext cx="3677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Individual Contribution</a:t>
            </a:r>
            <a:endParaRPr>
              <a:solidFill>
                <a:schemeClr val="lt1"/>
              </a:solidFill>
              <a:latin typeface="Metal Mania"/>
              <a:ea typeface="Metal Mania"/>
              <a:cs typeface="Metal Mania"/>
              <a:sym typeface="Metal Mania"/>
            </a:endParaRPr>
          </a:p>
        </p:txBody>
      </p:sp>
      <p:sp>
        <p:nvSpPr>
          <p:cNvPr id="587" name="Google Shape;587;p64"/>
          <p:cNvSpPr txBox="1"/>
          <p:nvPr/>
        </p:nvSpPr>
        <p:spPr>
          <a:xfrm>
            <a:off x="4563250" y="1062150"/>
            <a:ext cx="4248600" cy="31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Luke</a:t>
            </a:r>
            <a:endParaRPr b="1"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Made </a:t>
            </a: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original</a:t>
            </a: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dataset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Front end development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Powerpoint contribution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Benton</a:t>
            </a:r>
            <a:endParaRPr b="1"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Researched potential live API implementation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Powerpoint</a:t>
            </a: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contribution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Outlined installation instructions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PJ</a:t>
            </a:r>
            <a:endParaRPr b="1"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API implementation 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Backend development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Debugging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Burning Hatred for Spirit Airl  Airlines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88" name="Google Shape;588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8827" y="4029840"/>
            <a:ext cx="757402" cy="26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65"/>
          <p:cNvSpPr txBox="1"/>
          <p:nvPr>
            <p:ph type="title"/>
          </p:nvPr>
        </p:nvSpPr>
        <p:spPr>
          <a:xfrm>
            <a:off x="320625" y="3612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Credit</a:t>
            </a:r>
            <a:endParaRPr/>
          </a:p>
        </p:txBody>
      </p:sp>
      <p:sp>
        <p:nvSpPr>
          <p:cNvPr id="594" name="Google Shape;594;p65"/>
          <p:cNvSpPr txBox="1"/>
          <p:nvPr>
            <p:ph idx="3" type="title"/>
          </p:nvPr>
        </p:nvSpPr>
        <p:spPr>
          <a:xfrm>
            <a:off x="317100" y="997063"/>
            <a:ext cx="84159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Matthias Schäfer, Martin Strohmeier, Vincent Lenders, Ivan Martinovic, and Matthias Wilhelm.</a:t>
            </a:r>
            <a:endParaRPr sz="1500"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500"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"Bringing Up OpenSky: A Large-scale ADS-B Sensor Network for Research"</a:t>
            </a:r>
            <a:r>
              <a:rPr lang="en" sz="1500"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500"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In Proceedings of the 13th IEEE/ACM International Symposium on Information Processing in Sensor Networks (IPSN), pages 83-94, April 2014.</a:t>
            </a:r>
            <a:r>
              <a:rPr lang="en" sz="11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highlight>
                <a:schemeClr val="dk1"/>
              </a:highlight>
            </a:endParaRPr>
          </a:p>
        </p:txBody>
      </p:sp>
      <p:sp>
        <p:nvSpPr>
          <p:cNvPr id="595" name="Google Shape;595;p6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6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6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603" name="Google Shape;603;p66"/>
          <p:cNvSpPr txBox="1"/>
          <p:nvPr>
            <p:ph type="title"/>
          </p:nvPr>
        </p:nvSpPr>
        <p:spPr>
          <a:xfrm>
            <a:off x="228600" y="290450"/>
            <a:ext cx="3655800" cy="81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END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04" name="Google Shape;604;p66"/>
          <p:cNvSpPr/>
          <p:nvPr/>
        </p:nvSpPr>
        <p:spPr>
          <a:xfrm>
            <a:off x="228600" y="3299625"/>
            <a:ext cx="84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66"/>
          <p:cNvSpPr txBox="1"/>
          <p:nvPr/>
        </p:nvSpPr>
        <p:spPr>
          <a:xfrm>
            <a:off x="7168500" y="4391675"/>
            <a:ext cx="22209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Or is it?</a:t>
            </a:r>
            <a:endParaRPr sz="48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